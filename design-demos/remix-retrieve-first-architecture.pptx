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50ed8d0ae8468b" /><Relationship Type="http://schemas.openxmlformats.org/officeDocument/2006/relationships/extended-properties" Target="/docProps/app.xml" Id="R3be9e98fc82b4239" /><Relationship Type="http://schemas.openxmlformats.org/officeDocument/2006/relationships/officeDocument" Target="/ppt/presentation.xml" Id="R48ee2399a9cc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7f497550241d3"/>
  </p:sldMasterIdLst>
  <p:notesMasterIdLst>
    <p:notesMasterId xmlns:r="http://schemas.openxmlformats.org/officeDocument/2006/relationships" r:id="Re2529c36fbaf4f5a"/>
  </p:notesMasterIdLst>
  <p:sldIdLst>
    <p:sldId xmlns:r="http://schemas.openxmlformats.org/officeDocument/2006/relationships" id="256" r:id="R8bfb411ee52849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61b4b449cf4157" /><Relationship Type="http://schemas.openxmlformats.org/officeDocument/2006/relationships/slideMaster" Target="/ppt/slideMasters/slideMaster1.xml" Id="R23d7f497550241d3" /><Relationship Type="http://schemas.openxmlformats.org/officeDocument/2006/relationships/notesMaster" Target="/ppt/notesMasters/notesMaster1.xml" Id="Re2529c36fbaf4f5a" /><Relationship Type="http://schemas.openxmlformats.org/officeDocument/2006/relationships/presProps" Target="/ppt/presProps.xml" Id="R70bcd6f9ee994478" /><Relationship Type="http://schemas.openxmlformats.org/officeDocument/2006/relationships/tableStyles" Target="/ppt/tableStyles.xml" Id="Rcb6c1226ea8b42cd" /><Relationship Type="http://schemas.openxmlformats.org/officeDocument/2006/relationships/slide" Target="/ppt/slides/slide1.xml" Id="R8bfb411ee52849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71ee92e1dc4a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b2d8571edc40a9" /><Relationship Type="http://schemas.openxmlformats.org/officeDocument/2006/relationships/notesMaster" Target="/ppt/notesMasters/notesMaster1.xml" Id="R647b6644a6a9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本页用于汇报混剪系统的当前实现边界与九月推进重点。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design-demos/remix-retrieve-first-architecture.html（本地架构图）</a:t>
            </a:r>
          </a:p>
          <a:p xmlns:a="http://schemas.openxmlformats.org/drawingml/2006/main">
            <a:r>
              <a:t>- docs/reports/2026-09-growth-harness-progress.md（本地进展报告）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608cbeb384d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2e060ad33442d" /><Relationship Type="http://schemas.openxmlformats.org/officeDocument/2006/relationships/slideLayout" Target="/ppt/slideLayouts/slideLayout1.xml" Id="R3ef92a0f6f1a4b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92a0f6f1a4b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c3bf9bdc43b6" /><Relationship Type="http://schemas.openxmlformats.org/officeDocument/2006/relationships/notesSlide" Target="/ppt/notesSlides/notesSlide1.xml" Id="Raefcae6b390c43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kicker">
            <a:extLst xmlns:a="http://schemas.openxmlformats.org/drawingml/2006/main">
              <a:ext uri="{FF2B5EF4-FFF2-40B4-BE49-F238E27FC236}">
                <a16:creationId xmlns:a16="http://schemas.microsoft.com/office/drawing/2014/main" id="{AE5FF996-32E2-4BF6-92FC-79925171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B83"/>
                </a:solidFill>
              </a:defRPr>
            </a:pPr>
            <a:r>
              <a:rPr sz="1125" b="1">
                <a:solidFill>
                  <a:srgbClr val="286B83"/>
                </a:solidFill>
              </a:rPr>
              <a:t>九月增长系统 · 混剪架构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EB758C-1030-42FF-AE93-6B67E4B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72A"/>
                </a:solidFill>
              </a:defRPr>
            </a:pPr>
            <a:r>
              <a:rPr sz="3750" b="1">
                <a:solidFill>
                  <a:srgbClr val="20272A"/>
                </a:solidFill>
              </a:rPr>
              <a:t>检索优先，最小生成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862052F-21AF-48C3-8ABB-38CFD3D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57275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76"/>
                </a:solidFill>
              </a:defRPr>
            </a:pPr>
            <a:r>
              <a:rPr sz="1350" b="0">
                <a:solidFill>
                  <a:srgbClr val="667376"/>
                </a:solidFill>
              </a:rPr>
              <a:t>先复用热点、创意库、产品事实与自有素材；只有素材缺口才触发局部生成。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C2C66524-3B36-47B3-BA42-D284C93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76"/>
                </a:solidFill>
              </a:defRPr>
            </a:pPr>
            <a:r>
              <a:rPr sz="1050" b="0">
                <a:solidFill>
                  <a:srgbClr val="667376"/>
                </a:solidFill>
              </a:rPr>
              <a:t>当前实现地图 · 2026 年 9 月目标</a:t>
            </a:r>
          </a:p>
        </p:txBody>
      </p:sp>
      <p:sp>
        <p:nvSpPr>
          <p:cNvPr id="5" name="legend-green">
            <a:extLst xmlns:a="http://schemas.openxmlformats.org/drawingml/2006/main">
              <a:ext uri="{FF2B5EF4-FFF2-40B4-BE49-F238E27FC236}">
                <a16:creationId xmlns:a16="http://schemas.microsoft.com/office/drawing/2014/main" id="{B8C36D20-6347-4ACC-BFEB-7602D481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858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6" name="legend-green-text">
            <a:extLst xmlns:a="http://schemas.openxmlformats.org/drawingml/2006/main">
              <a:ext uri="{FF2B5EF4-FFF2-40B4-BE49-F238E27FC236}">
                <a16:creationId xmlns:a16="http://schemas.microsoft.com/office/drawing/2014/main" id="{F5694DA4-C67D-4808-9B6A-3868F42B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76"/>
                </a:solidFill>
              </a:defRPr>
            </a:pPr>
            <a:r>
              <a:rPr sz="975" b="0">
                <a:solidFill>
                  <a:srgbClr val="667376"/>
                </a:solidFill>
              </a:rPr>
              <a:t>已实现</a:t>
            </a:r>
          </a:p>
        </p:txBody>
      </p:sp>
      <p:sp>
        <p:nvSpPr>
          <p:cNvPr id="7" name="legend-yellow">
            <a:extLst xmlns:a="http://schemas.openxmlformats.org/drawingml/2006/main">
              <a:ext uri="{FF2B5EF4-FFF2-40B4-BE49-F238E27FC236}">
                <a16:creationId xmlns:a16="http://schemas.microsoft.com/office/drawing/2014/main" id="{8D614BE5-737D-4E3E-BF14-75E897B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858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6A12"/>
          </a:solidFill>
          <a:ln xmlns:a="http://schemas.openxmlformats.org/drawingml/2006/main" w="0">
            <a:solidFill>
              <a:srgbClr val="9A6A12"/>
            </a:solidFill>
            <a:prstDash val="solid"/>
          </a:ln>
        </p:spPr>
      </p:sp>
      <p:sp>
        <p:nvSpPr>
          <p:cNvPr id="8" name="legend-yellow-text">
            <a:extLst xmlns:a="http://schemas.openxmlformats.org/drawingml/2006/main">
              <a:ext uri="{FF2B5EF4-FFF2-40B4-BE49-F238E27FC236}">
                <a16:creationId xmlns:a16="http://schemas.microsoft.com/office/drawing/2014/main" id="{A6944A98-8662-4710-8858-2AB77001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47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76"/>
                </a:solidFill>
              </a:defRPr>
            </a:pPr>
            <a:r>
              <a:rPr sz="975" b="0">
                <a:solidFill>
                  <a:srgbClr val="667376"/>
                </a:solidFill>
              </a:rPr>
              <a:t>正在推进</a:t>
            </a:r>
          </a:p>
        </p:txBody>
      </p:sp>
      <p:sp>
        <p:nvSpPr>
          <p:cNvPr id="9" name="legend-red">
            <a:extLst xmlns:a="http://schemas.openxmlformats.org/drawingml/2006/main">
              <a:ext uri="{FF2B5EF4-FFF2-40B4-BE49-F238E27FC236}">
                <a16:creationId xmlns:a16="http://schemas.microsoft.com/office/drawing/2014/main" id="{06ABA27D-56A6-4356-B79D-3A7FF85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85800"/>
            <a:ext cx="114300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4493D"/>
          </a:solidFill>
          <a:ln xmlns:a="http://schemas.openxmlformats.org/drawingml/2006/main" w="0">
            <a:solidFill>
              <a:srgbClr val="B4493D"/>
            </a:solidFill>
            <a:prstDash val="solid"/>
          </a:ln>
        </p:spPr>
      </p:sp>
      <p:sp>
        <p:nvSpPr>
          <p:cNvPr id="10" name="legend-red-text">
            <a:extLst xmlns:a="http://schemas.openxmlformats.org/drawingml/2006/main">
              <a:ext uri="{FF2B5EF4-FFF2-40B4-BE49-F238E27FC236}">
                <a16:creationId xmlns:a16="http://schemas.microsoft.com/office/drawing/2014/main" id="{E6669B90-07CD-484E-A7E4-5D07C619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647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76"/>
                </a:solidFill>
              </a:defRPr>
            </a:pPr>
            <a:r>
              <a:rPr sz="975" b="0">
                <a:solidFill>
                  <a:srgbClr val="667376"/>
                </a:solidFill>
              </a:rPr>
              <a:t>未实现</a:t>
            </a:r>
          </a:p>
        </p:txBody>
      </p:sp>
      <p:sp>
        <p:nvSpPr>
          <p:cNvPr id="1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D425B40-AE6B-4597-90F8-61D9E9EB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0">
            <a:solidFill>
              <a:srgbClr val="20272A"/>
            </a:solidFill>
            <a:prstDash val="solid"/>
          </a:ln>
        </p:spPr>
      </p:sp>
      <p:sp>
        <p:nvSpPr>
          <p:cNvPr id="12" name="business-band">
            <a:extLst xmlns:a="http://schemas.openxmlformats.org/drawingml/2006/main">
              <a:ext uri="{FF2B5EF4-FFF2-40B4-BE49-F238E27FC236}">
                <a16:creationId xmlns:a16="http://schemas.microsoft.com/office/drawing/2014/main" id="{6555FFF9-65EB-4C77-986B-9885841D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113538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0"/>
            </a:solidFill>
            <a:prstDash val="solid"/>
          </a:ln>
        </p:spPr>
      </p:sp>
      <p:sp>
        <p:nvSpPr>
          <p:cNvPr id="13" name="business-accent">
            <a:extLst xmlns:a="http://schemas.openxmlformats.org/drawingml/2006/main">
              <a:ext uri="{FF2B5EF4-FFF2-40B4-BE49-F238E27FC236}">
                <a16:creationId xmlns:a16="http://schemas.microsoft.com/office/drawing/2014/main" id="{3FEA08EB-1089-4423-B942-E26D29E8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B83"/>
          </a:solidFill>
          <a:ln xmlns:a="http://schemas.openxmlformats.org/drawingml/2006/main" w="0">
            <a:solidFill>
              <a:srgbClr val="286B83"/>
            </a:solidFill>
            <a:prstDash val="solid"/>
          </a:ln>
        </p:spPr>
      </p:sp>
      <p:sp>
        <p:nvSpPr>
          <p:cNvPr id="14" name="business-title">
            <a:extLst xmlns:a="http://schemas.openxmlformats.org/drawingml/2006/main">
              <a:ext uri="{FF2B5EF4-FFF2-40B4-BE49-F238E27FC236}">
                <a16:creationId xmlns:a16="http://schemas.microsoft.com/office/drawing/2014/main" id="{91A29A19-F781-4A14-BB9B-A13C2513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72A"/>
                </a:solidFill>
              </a:defRPr>
            </a:pPr>
            <a:r>
              <a:rPr sz="1800" b="1">
                <a:solidFill>
                  <a:srgbClr val="20272A"/>
                </a:solidFill>
              </a:rPr>
              <a:t>上层｜业务增长驱动层</a:t>
            </a:r>
          </a:p>
        </p:txBody>
      </p:sp>
      <p:sp>
        <p:nvSpPr>
          <p:cNvPr id="15" name="business-subtitle">
            <a:extLst xmlns:a="http://schemas.openxmlformats.org/drawingml/2006/main">
              <a:ext uri="{FF2B5EF4-FFF2-40B4-BE49-F238E27FC236}">
                <a16:creationId xmlns:a16="http://schemas.microsoft.com/office/drawing/2014/main" id="{DB8CB99D-CCD7-4724-9F86-B571829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859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76"/>
                </a:solidFill>
              </a:defRPr>
            </a:pPr>
            <a:r>
              <a:rPr sz="1125" b="0">
                <a:solidFill>
                  <a:srgbClr val="667376"/>
                </a:solidFill>
              </a:rPr>
              <a:t>内容生产接到流量、投放和创意迭代</a:t>
            </a:r>
          </a:p>
        </p:txBody>
      </p:sp>
      <p:sp>
        <p:nvSpPr>
          <p:cNvPr id="16" name="shared-band">
            <a:extLst xmlns:a="http://schemas.openxmlformats.org/drawingml/2006/main">
              <a:ext uri="{FF2B5EF4-FFF2-40B4-BE49-F238E27FC236}">
                <a16:creationId xmlns:a16="http://schemas.microsoft.com/office/drawing/2014/main" id="{FD024D6F-23D6-4F9D-BCAF-493D8B40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13538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0"/>
            </a:solidFill>
            <a:prstDash val="solid"/>
          </a:ln>
        </p:spPr>
      </p:sp>
      <p:sp>
        <p:nvSpPr>
          <p:cNvPr id="17" name="shared-accent">
            <a:extLst xmlns:a="http://schemas.openxmlformats.org/drawingml/2006/main">
              <a:ext uri="{FF2B5EF4-FFF2-40B4-BE49-F238E27FC236}">
                <a16:creationId xmlns:a16="http://schemas.microsoft.com/office/drawing/2014/main" id="{B5B552E9-D4DC-4C8C-975B-26955324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18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805869B0-0916-45D8-8A9C-78F8ADB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72A"/>
                </a:solidFill>
              </a:defRPr>
            </a:pPr>
            <a:r>
              <a:rPr sz="1800" b="1">
                <a:solidFill>
                  <a:srgbClr val="20272A"/>
                </a:solidFill>
              </a:rPr>
              <a:t>中层｜共享状态与产物协议层</a:t>
            </a:r>
          </a:p>
        </p:txBody>
      </p:sp>
      <p:sp>
        <p:nvSpPr>
          <p:cNvPr id="19" name="shared-subtitle">
            <a:extLst xmlns:a="http://schemas.openxmlformats.org/drawingml/2006/main">
              <a:ext uri="{FF2B5EF4-FFF2-40B4-BE49-F238E27FC236}">
                <a16:creationId xmlns:a16="http://schemas.microsoft.com/office/drawing/2014/main" id="{FDFF4ABB-DEDE-4C79-9ACC-63F01ED8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813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76"/>
                </a:solidFill>
              </a:defRPr>
            </a:pPr>
            <a:r>
              <a:rPr sz="1125" b="0">
                <a:solidFill>
                  <a:srgbClr val="667376"/>
                </a:solidFill>
              </a:rPr>
              <a:t>业务、生产、交付使用同一份可追溯事实</a:t>
            </a:r>
          </a:p>
        </p:txBody>
      </p:sp>
      <p:sp>
        <p:nvSpPr>
          <p:cNvPr id="20" name="production-band">
            <a:extLst xmlns:a="http://schemas.openxmlformats.org/drawingml/2006/main">
              <a:ext uri="{FF2B5EF4-FFF2-40B4-BE49-F238E27FC236}">
                <a16:creationId xmlns:a16="http://schemas.microsoft.com/office/drawing/2014/main" id="{60434DCC-D5B0-4249-B4E0-A2C7199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11353800" cy="1724025"/>
          </a:xfrm>
          <a:prstGeom xmlns:a="http://schemas.openxmlformats.org/drawingml/2006/main" prst="roundRect">
            <a:avLst>
              <a:gd name="adj" fmla="val 55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0"/>
            </a:solidFill>
            <a:prstDash val="solid"/>
          </a:ln>
        </p:spPr>
      </p:sp>
      <p:sp>
        <p:nvSpPr>
          <p:cNvPr id="21" name="production-accent">
            <a:extLst xmlns:a="http://schemas.openxmlformats.org/drawingml/2006/main">
              <a:ext uri="{FF2B5EF4-FFF2-40B4-BE49-F238E27FC236}">
                <a16:creationId xmlns:a16="http://schemas.microsoft.com/office/drawing/2014/main" id="{1BAF843C-5EF8-4769-B229-5B366D76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76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2A"/>
          </a:solidFill>
          <a:ln xmlns:a="http://schemas.openxmlformats.org/drawingml/2006/main" w="0">
            <a:solidFill>
              <a:srgbClr val="20272A"/>
            </a:solidFill>
            <a:prstDash val="solid"/>
          </a:ln>
        </p:spPr>
      </p:sp>
      <p:sp>
        <p:nvSpPr>
          <p:cNvPr id="22" name="production-title">
            <a:extLst xmlns:a="http://schemas.openxmlformats.org/drawingml/2006/main">
              <a:ext uri="{FF2B5EF4-FFF2-40B4-BE49-F238E27FC236}">
                <a16:creationId xmlns:a16="http://schemas.microsoft.com/office/drawing/2014/main" id="{5F395EFE-BAF9-4409-9627-ED468AF0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72A"/>
                </a:solidFill>
              </a:defRPr>
            </a:pPr>
            <a:r>
              <a:rPr sz="1800" b="1">
                <a:solidFill>
                  <a:srgbClr val="20272A"/>
                </a:solidFill>
              </a:rPr>
              <a:t>底层｜视频生产驱动层</a:t>
            </a:r>
          </a:p>
        </p:txBody>
      </p:sp>
      <p:sp>
        <p:nvSpPr>
          <p:cNvPr id="23" name="production-subtitle">
            <a:extLst xmlns:a="http://schemas.openxmlformats.org/drawingml/2006/main">
              <a:ext uri="{FF2B5EF4-FFF2-40B4-BE49-F238E27FC236}">
                <a16:creationId xmlns:a16="http://schemas.microsoft.com/office/drawing/2014/main" id="{EF407C9B-8022-4B15-A41C-4B404B8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624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376"/>
                </a:solidFill>
              </a:defRPr>
            </a:pPr>
            <a:r>
              <a:rPr sz="1125" b="0">
                <a:solidFill>
                  <a:srgbClr val="667376"/>
                </a:solidFill>
              </a:rPr>
              <a:t>检索优先，只有缺口才触发最小生成</a:t>
            </a:r>
          </a:p>
        </p:txBody>
      </p:sp>
      <p:sp>
        <p:nvSpPr>
          <p:cNvPr id="24" name="business-arrow-1">
            <a:extLst xmlns:a="http://schemas.openxmlformats.org/drawingml/2006/main">
              <a:ext uri="{FF2B5EF4-FFF2-40B4-BE49-F238E27FC236}">
                <a16:creationId xmlns:a16="http://schemas.microsoft.com/office/drawing/2014/main" id="{5D877F73-4173-40ED-9A59-6B75AED8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336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25" name="business-arrow-2">
            <a:extLst xmlns:a="http://schemas.openxmlformats.org/drawingml/2006/main">
              <a:ext uri="{FF2B5EF4-FFF2-40B4-BE49-F238E27FC236}">
                <a16:creationId xmlns:a16="http://schemas.microsoft.com/office/drawing/2014/main" id="{B512BB1B-1CFD-4957-A1F7-2CDAC2B0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336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26" name="business-arrow-3">
            <a:extLst xmlns:a="http://schemas.openxmlformats.org/drawingml/2006/main">
              <a:ext uri="{FF2B5EF4-FFF2-40B4-BE49-F238E27FC236}">
                <a16:creationId xmlns:a16="http://schemas.microsoft.com/office/drawing/2014/main" id="{11BDF3E3-8D5C-48DC-B743-3DFF6248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336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27" name="business-arrow-4">
            <a:extLst xmlns:a="http://schemas.openxmlformats.org/drawingml/2006/main">
              <a:ext uri="{FF2B5EF4-FFF2-40B4-BE49-F238E27FC236}">
                <a16:creationId xmlns:a16="http://schemas.microsoft.com/office/drawing/2014/main" id="{17E932A5-19FA-4BEB-83A2-A3753E15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336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28" name="production-arrow-1">
            <a:extLst xmlns:a="http://schemas.openxmlformats.org/drawingml/2006/main">
              <a:ext uri="{FF2B5EF4-FFF2-40B4-BE49-F238E27FC236}">
                <a16:creationId xmlns:a16="http://schemas.microsoft.com/office/drawing/2014/main" id="{776909B6-7060-4EA6-A67D-FD701A9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96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29" name="production-arrow-2">
            <a:extLst xmlns:a="http://schemas.openxmlformats.org/drawingml/2006/main">
              <a:ext uri="{FF2B5EF4-FFF2-40B4-BE49-F238E27FC236}">
                <a16:creationId xmlns:a16="http://schemas.microsoft.com/office/drawing/2014/main" id="{E6091DF0-E8E2-4613-A37D-2CADA485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96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30" name="production-arrow-3">
            <a:extLst xmlns:a="http://schemas.openxmlformats.org/drawingml/2006/main">
              <a:ext uri="{FF2B5EF4-FFF2-40B4-BE49-F238E27FC236}">
                <a16:creationId xmlns:a16="http://schemas.microsoft.com/office/drawing/2014/main" id="{341F7D0F-CA94-412E-B3B5-7821A7C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96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31" name="production-arrow-4">
            <a:extLst xmlns:a="http://schemas.openxmlformats.org/drawingml/2006/main">
              <a:ext uri="{FF2B5EF4-FFF2-40B4-BE49-F238E27FC236}">
                <a16:creationId xmlns:a16="http://schemas.microsoft.com/office/drawing/2014/main" id="{8ED11178-A6F4-4BBC-9761-D3899217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196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32" name="production-arrow-5">
            <a:extLst xmlns:a="http://schemas.openxmlformats.org/drawingml/2006/main">
              <a:ext uri="{FF2B5EF4-FFF2-40B4-BE49-F238E27FC236}">
                <a16:creationId xmlns:a16="http://schemas.microsoft.com/office/drawing/2014/main" id="{45B867BF-B69D-4140-9F30-FE817E48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96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33" name="production-arrow-6">
            <a:extLst xmlns:a="http://schemas.openxmlformats.org/drawingml/2006/main">
              <a:ext uri="{FF2B5EF4-FFF2-40B4-BE49-F238E27FC236}">
                <a16:creationId xmlns:a16="http://schemas.microsoft.com/office/drawing/2014/main" id="{D5210F25-2400-4897-8FB2-8BD091AA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96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34" name="production-arrow-7">
            <a:extLst xmlns:a="http://schemas.openxmlformats.org/drawingml/2006/main">
              <a:ext uri="{FF2B5EF4-FFF2-40B4-BE49-F238E27FC236}">
                <a16:creationId xmlns:a16="http://schemas.microsoft.com/office/drawing/2014/main" id="{56446847-8F18-4A8D-9535-B8FFFC86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19675"/>
            <a:ext cx="161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B83"/>
                </a:solidFill>
              </a:defRPr>
            </a:pPr>
            <a:r>
              <a:rPr sz="1500" b="1">
                <a:solidFill>
                  <a:srgbClr val="286B83"/>
                </a:solidFill>
              </a:rPr>
              <a:t>→</a:t>
            </a:r>
          </a:p>
        </p:txBody>
      </p:sp>
      <p:sp>
        <p:nvSpPr>
          <p:cNvPr id="35" name="trend-box">
            <a:extLst xmlns:a="http://schemas.openxmlformats.org/drawingml/2006/main">
              <a:ext uri="{FF2B5EF4-FFF2-40B4-BE49-F238E27FC236}">
                <a16:creationId xmlns:a16="http://schemas.microsoft.com/office/drawing/2014/main" id="{2FF77A2F-9968-45B7-93F2-39B91CC1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781175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1430">
            <a:solidFill>
              <a:srgbClr val="9A6A12"/>
            </a:solidFill>
            <a:prstDash val="solid"/>
          </a:ln>
        </p:spPr>
      </p:sp>
      <p:sp>
        <p:nvSpPr>
          <p:cNvPr id="36" name="trend-stripe">
            <a:extLst xmlns:a="http://schemas.openxmlformats.org/drawingml/2006/main">
              <a:ext uri="{FF2B5EF4-FFF2-40B4-BE49-F238E27FC236}">
                <a16:creationId xmlns:a16="http://schemas.microsoft.com/office/drawing/2014/main" id="{6CF39016-3494-4FD2-9483-CAF87CA1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2"/>
          </a:solidFill>
          <a:ln xmlns:a="http://schemas.openxmlformats.org/drawingml/2006/main" w="0">
            <a:solidFill>
              <a:srgbClr val="9A6A12"/>
            </a:solidFill>
            <a:prstDash val="solid"/>
          </a:ln>
        </p:spPr>
      </p:sp>
      <p:sp>
        <p:nvSpPr>
          <p:cNvPr id="37" name="trend-title">
            <a:extLst xmlns:a="http://schemas.openxmlformats.org/drawingml/2006/main">
              <a:ext uri="{FF2B5EF4-FFF2-40B4-BE49-F238E27FC236}">
                <a16:creationId xmlns:a16="http://schemas.microsoft.com/office/drawing/2014/main" id="{16E13668-448E-4D0A-8EF3-C033E73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72A"/>
                </a:solidFill>
              </a:defRPr>
            </a:pPr>
            <a:r>
              <a:rPr sz="975" b="1">
                <a:solidFill>
                  <a:srgbClr val="20272A"/>
                </a:solidFill>
              </a:rPr>
              <a:t>热点抓取</a:t>
            </a:r>
          </a:p>
        </p:txBody>
      </p:sp>
      <p:sp>
        <p:nvSpPr>
          <p:cNvPr id="38" name="trend-body">
            <a:extLst xmlns:a="http://schemas.openxmlformats.org/drawingml/2006/main">
              <a:ext uri="{FF2B5EF4-FFF2-40B4-BE49-F238E27FC236}">
                <a16:creationId xmlns:a16="http://schemas.microsoft.com/office/drawing/2014/main" id="{67AC8980-8BB4-450A-82DE-8A980188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76"/>
                </a:solidFill>
              </a:defRPr>
            </a:pPr>
            <a:r>
              <a:rPr sz="750" b="0">
                <a:solidFill>
                  <a:srgbClr val="667376"/>
                </a:solidFill>
              </a:rPr>
              <a:t>热度、讨论、趋势痛点</a:t>
            </a:r>
          </a:p>
        </p:txBody>
      </p:sp>
      <p:sp>
        <p:nvSpPr>
          <p:cNvPr id="39" name="trend-status">
            <a:extLst xmlns:a="http://schemas.openxmlformats.org/drawingml/2006/main">
              <a:ext uri="{FF2B5EF4-FFF2-40B4-BE49-F238E27FC236}">
                <a16:creationId xmlns:a16="http://schemas.microsoft.com/office/drawing/2014/main" id="{B007F39B-17D2-4A41-8C44-99A627B0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05025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A6A12"/>
                </a:solidFill>
              </a:defRPr>
            </a:pPr>
            <a:r>
              <a:rPr sz="600" b="1">
                <a:solidFill>
                  <a:srgbClr val="9A6A12"/>
                </a:solidFill>
              </a:rPr>
              <a:t>推进中</a:t>
            </a:r>
          </a:p>
        </p:txBody>
      </p:sp>
      <p:sp>
        <p:nvSpPr>
          <p:cNvPr id="40" name="idea-box">
            <a:extLst xmlns:a="http://schemas.openxmlformats.org/drawingml/2006/main">
              <a:ext uri="{FF2B5EF4-FFF2-40B4-BE49-F238E27FC236}">
                <a16:creationId xmlns:a16="http://schemas.microsoft.com/office/drawing/2014/main" id="{CA81E386-9BD5-4087-9C7B-E6D5EF6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781175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41" name="idea-stripe">
            <a:extLst xmlns:a="http://schemas.openxmlformats.org/drawingml/2006/main">
              <a:ext uri="{FF2B5EF4-FFF2-40B4-BE49-F238E27FC236}">
                <a16:creationId xmlns:a16="http://schemas.microsoft.com/office/drawing/2014/main" id="{3F6646BA-B0CB-4839-A27B-3F05D4C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42" name="idea-title">
            <a:extLst xmlns:a="http://schemas.openxmlformats.org/drawingml/2006/main">
              <a:ext uri="{FF2B5EF4-FFF2-40B4-BE49-F238E27FC236}">
                <a16:creationId xmlns:a16="http://schemas.microsoft.com/office/drawing/2014/main" id="{A3019A55-ED1B-49D6-B531-649BD6E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050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72A"/>
                </a:solidFill>
              </a:defRPr>
            </a:pPr>
            <a:r>
              <a:rPr sz="975" b="1">
                <a:solidFill>
                  <a:srgbClr val="20272A"/>
                </a:solidFill>
              </a:rPr>
              <a:t>创意库匹配</a:t>
            </a:r>
          </a:p>
        </p:txBody>
      </p:sp>
      <p:sp>
        <p:nvSpPr>
          <p:cNvPr id="43" name="idea-body">
            <a:extLst xmlns:a="http://schemas.openxmlformats.org/drawingml/2006/main">
              <a:ext uri="{FF2B5EF4-FFF2-40B4-BE49-F238E27FC236}">
                <a16:creationId xmlns:a16="http://schemas.microsoft.com/office/drawing/2014/main" id="{1C13C857-F868-4686-B374-966FE8BC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14575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76"/>
                </a:solidFill>
              </a:defRPr>
            </a:pPr>
            <a:r>
              <a:rPr sz="750" b="0">
                <a:solidFill>
                  <a:srgbClr val="667376"/>
                </a:solidFill>
              </a:rPr>
              <a:t>模板、节奏、镜头</a:t>
            </a:r>
          </a:p>
        </p:txBody>
      </p:sp>
      <p:sp>
        <p:nvSpPr>
          <p:cNvPr id="44" name="idea-status">
            <a:extLst xmlns:a="http://schemas.openxmlformats.org/drawingml/2006/main">
              <a:ext uri="{FF2B5EF4-FFF2-40B4-BE49-F238E27FC236}">
                <a16:creationId xmlns:a16="http://schemas.microsoft.com/office/drawing/2014/main" id="{12A9EF8F-4326-4CBA-A4E7-982CB03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05025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7452"/>
                </a:solidFill>
              </a:defRPr>
            </a:pPr>
            <a:r>
              <a:rPr sz="60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45" name="scale-box">
            <a:extLst xmlns:a="http://schemas.openxmlformats.org/drawingml/2006/main">
              <a:ext uri="{FF2B5EF4-FFF2-40B4-BE49-F238E27FC236}">
                <a16:creationId xmlns:a16="http://schemas.microsoft.com/office/drawing/2014/main" id="{35E7E629-2893-428D-A642-0C5B6495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1781175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1430">
            <a:solidFill>
              <a:srgbClr val="9A6A12"/>
            </a:solidFill>
            <a:prstDash val="solid"/>
          </a:ln>
        </p:spPr>
      </p:sp>
      <p:sp>
        <p:nvSpPr>
          <p:cNvPr id="46" name="scale-stripe">
            <a:extLst xmlns:a="http://schemas.openxmlformats.org/drawingml/2006/main">
              <a:ext uri="{FF2B5EF4-FFF2-40B4-BE49-F238E27FC236}">
                <a16:creationId xmlns:a16="http://schemas.microsoft.com/office/drawing/2014/main" id="{41C68ADA-5581-458B-8507-6A75BE62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2"/>
          </a:solidFill>
          <a:ln xmlns:a="http://schemas.openxmlformats.org/drawingml/2006/main" w="0">
            <a:solidFill>
              <a:srgbClr val="9A6A12"/>
            </a:solidFill>
            <a:prstDash val="solid"/>
          </a:ln>
        </p:spPr>
      </p:sp>
      <p:sp>
        <p:nvSpPr>
          <p:cNvPr id="47" name="scale-title">
            <a:extLst xmlns:a="http://schemas.openxmlformats.org/drawingml/2006/main">
              <a:ext uri="{FF2B5EF4-FFF2-40B4-BE49-F238E27FC236}">
                <a16:creationId xmlns:a16="http://schemas.microsoft.com/office/drawing/2014/main" id="{2E8269F0-76D0-4910-A05C-59B91CCD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050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72A"/>
                </a:solidFill>
              </a:defRPr>
            </a:pPr>
            <a:r>
              <a:rPr sz="975" b="1">
                <a:solidFill>
                  <a:srgbClr val="20272A"/>
                </a:solidFill>
              </a:rPr>
              <a:t>规模化生产</a:t>
            </a:r>
          </a:p>
        </p:txBody>
      </p:sp>
      <p:sp>
        <p:nvSpPr>
          <p:cNvPr id="48" name="scale-body">
            <a:extLst xmlns:a="http://schemas.openxmlformats.org/drawingml/2006/main">
              <a:ext uri="{FF2B5EF4-FFF2-40B4-BE49-F238E27FC236}">
                <a16:creationId xmlns:a16="http://schemas.microsoft.com/office/drawing/2014/main" id="{68E1EC23-F97B-4B24-B48A-3AC97309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14575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76"/>
                </a:solidFill>
              </a:defRPr>
            </a:pPr>
            <a:r>
              <a:rPr sz="750" b="0">
                <a:solidFill>
                  <a:srgbClr val="667376"/>
                </a:solidFill>
              </a:rPr>
              <a:t>一天十条可投放</a:t>
            </a:r>
          </a:p>
        </p:txBody>
      </p:sp>
      <p:sp>
        <p:nvSpPr>
          <p:cNvPr id="49" name="scale-status">
            <a:extLst xmlns:a="http://schemas.openxmlformats.org/drawingml/2006/main">
              <a:ext uri="{FF2B5EF4-FFF2-40B4-BE49-F238E27FC236}">
                <a16:creationId xmlns:a16="http://schemas.microsoft.com/office/drawing/2014/main" id="{89078E51-3CC3-4809-A715-FCE32238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05025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A6A12"/>
                </a:solidFill>
              </a:defRPr>
            </a:pPr>
            <a:r>
              <a:rPr sz="600" b="1">
                <a:solidFill>
                  <a:srgbClr val="9A6A12"/>
                </a:solidFill>
              </a:rPr>
              <a:t>推进中</a:t>
            </a:r>
          </a:p>
        </p:txBody>
      </p:sp>
      <p:sp>
        <p:nvSpPr>
          <p:cNvPr id="50" name="traffic-box">
            <a:extLst xmlns:a="http://schemas.openxmlformats.org/drawingml/2006/main">
              <a:ext uri="{FF2B5EF4-FFF2-40B4-BE49-F238E27FC236}">
                <a16:creationId xmlns:a16="http://schemas.microsoft.com/office/drawing/2014/main" id="{E93803CA-9956-4826-9799-3384D087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781175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BE9E6"/>
          </a:solidFill>
          <a:ln xmlns:a="http://schemas.openxmlformats.org/drawingml/2006/main" w="11430">
            <a:solidFill>
              <a:srgbClr val="B4493D"/>
            </a:solidFill>
            <a:prstDash val="solid"/>
          </a:ln>
        </p:spPr>
      </p:sp>
      <p:sp>
        <p:nvSpPr>
          <p:cNvPr id="51" name="traffic-stripe">
            <a:extLst xmlns:a="http://schemas.openxmlformats.org/drawingml/2006/main">
              <a:ext uri="{FF2B5EF4-FFF2-40B4-BE49-F238E27FC236}">
                <a16:creationId xmlns:a16="http://schemas.microsoft.com/office/drawing/2014/main" id="{AA7D72E9-A30D-4D4A-AC50-4C2AD2FF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93D"/>
          </a:solidFill>
          <a:ln xmlns:a="http://schemas.openxmlformats.org/drawingml/2006/main" w="0">
            <a:solidFill>
              <a:srgbClr val="B4493D"/>
            </a:solidFill>
            <a:prstDash val="solid"/>
          </a:ln>
        </p:spPr>
      </p:sp>
      <p:sp>
        <p:nvSpPr>
          <p:cNvPr id="52" name="traffic-title">
            <a:extLst xmlns:a="http://schemas.openxmlformats.org/drawingml/2006/main">
              <a:ext uri="{FF2B5EF4-FFF2-40B4-BE49-F238E27FC236}">
                <a16:creationId xmlns:a16="http://schemas.microsoft.com/office/drawing/2014/main" id="{36A136D6-E2EC-4C9A-BEDD-907BFA9A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050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72A"/>
                </a:solidFill>
              </a:defRPr>
            </a:pPr>
            <a:r>
              <a:rPr sz="975" b="1">
                <a:solidFill>
                  <a:srgbClr val="20272A"/>
                </a:solidFill>
              </a:rPr>
              <a:t>账号流量池</a:t>
            </a:r>
          </a:p>
        </p:txBody>
      </p:sp>
      <p:sp>
        <p:nvSpPr>
          <p:cNvPr id="53" name="traffic-body">
            <a:extLst xmlns:a="http://schemas.openxmlformats.org/drawingml/2006/main">
              <a:ext uri="{FF2B5EF4-FFF2-40B4-BE49-F238E27FC236}">
                <a16:creationId xmlns:a16="http://schemas.microsoft.com/office/drawing/2014/main" id="{3FCADBB2-F0B3-4D46-8158-6999D805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76"/>
                </a:solidFill>
              </a:defRPr>
            </a:pPr>
            <a:r>
              <a:rPr sz="750" b="0">
                <a:solidFill>
                  <a:srgbClr val="667376"/>
                </a:solidFill>
              </a:rPr>
              <a:t>账号矩阵、发布</a:t>
            </a:r>
          </a:p>
        </p:txBody>
      </p:sp>
      <p:sp>
        <p:nvSpPr>
          <p:cNvPr id="54" name="traffic-status">
            <a:extLst xmlns:a="http://schemas.openxmlformats.org/drawingml/2006/main">
              <a:ext uri="{FF2B5EF4-FFF2-40B4-BE49-F238E27FC236}">
                <a16:creationId xmlns:a16="http://schemas.microsoft.com/office/drawing/2014/main" id="{C4053A72-5879-4913-ADCC-B6E84375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49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4493D"/>
                </a:solidFill>
              </a:defRPr>
            </a:pPr>
            <a:r>
              <a:rPr sz="600" b="1">
                <a:solidFill>
                  <a:srgbClr val="B4493D"/>
                </a:solidFill>
              </a:rPr>
              <a:t>未实现</a:t>
            </a:r>
          </a:p>
        </p:txBody>
      </p:sp>
      <p:sp>
        <p:nvSpPr>
          <p:cNvPr id="55" name="boost-box">
            <a:extLst xmlns:a="http://schemas.openxmlformats.org/drawingml/2006/main">
              <a:ext uri="{FF2B5EF4-FFF2-40B4-BE49-F238E27FC236}">
                <a16:creationId xmlns:a16="http://schemas.microsoft.com/office/drawing/2014/main" id="{7B1CB681-4785-450D-99F5-29162664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1781175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BE9E6"/>
          </a:solidFill>
          <a:ln xmlns:a="http://schemas.openxmlformats.org/drawingml/2006/main" w="11430">
            <a:solidFill>
              <a:srgbClr val="B4493D"/>
            </a:solidFill>
            <a:prstDash val="solid"/>
          </a:ln>
        </p:spPr>
      </p:sp>
      <p:sp>
        <p:nvSpPr>
          <p:cNvPr id="56" name="boost-stripe">
            <a:extLst xmlns:a="http://schemas.openxmlformats.org/drawingml/2006/main">
              <a:ext uri="{FF2B5EF4-FFF2-40B4-BE49-F238E27FC236}">
                <a16:creationId xmlns:a16="http://schemas.microsoft.com/office/drawing/2014/main" id="{9293646D-2003-421C-990D-2C7CC5BF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93D"/>
          </a:solidFill>
          <a:ln xmlns:a="http://schemas.openxmlformats.org/drawingml/2006/main" w="0">
            <a:solidFill>
              <a:srgbClr val="B4493D"/>
            </a:solidFill>
            <a:prstDash val="solid"/>
          </a:ln>
        </p:spPr>
      </p:sp>
      <p:sp>
        <p:nvSpPr>
          <p:cNvPr id="57" name="boost-title">
            <a:extLst xmlns:a="http://schemas.openxmlformats.org/drawingml/2006/main">
              <a:ext uri="{FF2B5EF4-FFF2-40B4-BE49-F238E27FC236}">
                <a16:creationId xmlns:a16="http://schemas.microsoft.com/office/drawing/2014/main" id="{E3A4BF54-6BB5-4482-BD8D-DC1DBCA7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05025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72A"/>
                </a:solidFill>
              </a:defRPr>
            </a:pPr>
            <a:r>
              <a:rPr sz="975" b="1">
                <a:solidFill>
                  <a:srgbClr val="20272A"/>
                </a:solidFill>
              </a:rPr>
              <a:t>付费放大</a:t>
            </a:r>
          </a:p>
        </p:txBody>
      </p:sp>
      <p:sp>
        <p:nvSpPr>
          <p:cNvPr id="58" name="boost-body">
            <a:extLst xmlns:a="http://schemas.openxmlformats.org/drawingml/2006/main">
              <a:ext uri="{FF2B5EF4-FFF2-40B4-BE49-F238E27FC236}">
                <a16:creationId xmlns:a16="http://schemas.microsoft.com/office/drawing/2014/main" id="{1C2F6045-776E-496F-AF7C-5E989D8C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14575"/>
            <a:ext cx="155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76"/>
                </a:solidFill>
              </a:defRPr>
            </a:pPr>
            <a:r>
              <a:rPr sz="750" b="0">
                <a:solidFill>
                  <a:srgbClr val="667376"/>
                </a:solidFill>
              </a:rPr>
              <a:t>十条筛二至三条</a:t>
            </a:r>
          </a:p>
        </p:txBody>
      </p:sp>
      <p:sp>
        <p:nvSpPr>
          <p:cNvPr id="59" name="boost-status">
            <a:extLst xmlns:a="http://schemas.openxmlformats.org/drawingml/2006/main">
              <a:ext uri="{FF2B5EF4-FFF2-40B4-BE49-F238E27FC236}">
                <a16:creationId xmlns:a16="http://schemas.microsoft.com/office/drawing/2014/main" id="{4CB3CD1C-1B66-49C0-A8D1-C011505C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05025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49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4493D"/>
                </a:solidFill>
              </a:defRPr>
            </a:pPr>
            <a:r>
              <a:rPr sz="600" b="1">
                <a:solidFill>
                  <a:srgbClr val="B4493D"/>
                </a:solidFill>
              </a:rPr>
              <a:t>未实现</a:t>
            </a:r>
          </a:p>
        </p:txBody>
      </p:sp>
      <p:sp>
        <p:nvSpPr>
          <p:cNvPr id="60" name="shared-70-box">
            <a:extLst xmlns:a="http://schemas.openxmlformats.org/drawingml/2006/main">
              <a:ext uri="{FF2B5EF4-FFF2-40B4-BE49-F238E27FC236}">
                <a16:creationId xmlns:a16="http://schemas.microsoft.com/office/drawing/2014/main" id="{B59B5612-063A-4B9A-97E9-B307676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9050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61" name="shared-70-stripe">
            <a:extLst xmlns:a="http://schemas.openxmlformats.org/drawingml/2006/main">
              <a:ext uri="{FF2B5EF4-FFF2-40B4-BE49-F238E27FC236}">
                <a16:creationId xmlns:a16="http://schemas.microsoft.com/office/drawing/2014/main" id="{A14805FD-C8CE-4C60-91A7-66A83B90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62" name="shared-70-title">
            <a:extLst xmlns:a="http://schemas.openxmlformats.org/drawingml/2006/main">
              <a:ext uri="{FF2B5EF4-FFF2-40B4-BE49-F238E27FC236}">
                <a16:creationId xmlns:a16="http://schemas.microsoft.com/office/drawing/2014/main" id="{21D93851-7489-42BC-B221-B9FE3990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事实与视觉身份</a:t>
            </a:r>
          </a:p>
        </p:txBody>
      </p:sp>
      <p:sp>
        <p:nvSpPr>
          <p:cNvPr id="63" name="shared-70-body">
            <a:extLst xmlns:a="http://schemas.openxmlformats.org/drawingml/2006/main">
              <a:ext uri="{FF2B5EF4-FFF2-40B4-BE49-F238E27FC236}">
                <a16:creationId xmlns:a16="http://schemas.microsoft.com/office/drawing/2014/main" id="{FBBFA46B-A232-4D98-9E19-0CE0262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商品、包装、价格、参数</a:t>
            </a:r>
          </a:p>
        </p:txBody>
      </p:sp>
      <p:sp>
        <p:nvSpPr>
          <p:cNvPr id="64" name="shared-70-status">
            <a:extLst xmlns:a="http://schemas.openxmlformats.org/drawingml/2006/main">
              <a:ext uri="{FF2B5EF4-FFF2-40B4-BE49-F238E27FC236}">
                <a16:creationId xmlns:a16="http://schemas.microsoft.com/office/drawing/2014/main" id="{AAC24866-35D1-480C-9B38-D5A93571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352800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7452"/>
                </a:solidFill>
              </a:defRPr>
            </a:pPr>
            <a:r>
              <a:rPr sz="60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65" name="shared-300-box">
            <a:extLst xmlns:a="http://schemas.openxmlformats.org/drawingml/2006/main">
              <a:ext uri="{FF2B5EF4-FFF2-40B4-BE49-F238E27FC236}">
                <a16:creationId xmlns:a16="http://schemas.microsoft.com/office/drawing/2014/main" id="{744B0214-85BA-4517-B482-F5F778E7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19050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66" name="shared-300-stripe">
            <a:extLst xmlns:a="http://schemas.openxmlformats.org/drawingml/2006/main">
              <a:ext uri="{FF2B5EF4-FFF2-40B4-BE49-F238E27FC236}">
                <a16:creationId xmlns:a16="http://schemas.microsoft.com/office/drawing/2014/main" id="{0805A858-F0BA-4A89-91C5-4EF46587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67" name="shared-300-title">
            <a:extLst xmlns:a="http://schemas.openxmlformats.org/drawingml/2006/main">
              <a:ext uri="{FF2B5EF4-FFF2-40B4-BE49-F238E27FC236}">
                <a16:creationId xmlns:a16="http://schemas.microsoft.com/office/drawing/2014/main" id="{E633AD13-4BAD-47E8-922B-09DDC44D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528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结构化产物</a:t>
            </a:r>
          </a:p>
        </p:txBody>
      </p:sp>
      <p:sp>
        <p:nvSpPr>
          <p:cNvPr id="68" name="shared-300-body">
            <a:extLst xmlns:a="http://schemas.openxmlformats.org/drawingml/2006/main">
              <a:ext uri="{FF2B5EF4-FFF2-40B4-BE49-F238E27FC236}">
                <a16:creationId xmlns:a16="http://schemas.microsoft.com/office/drawing/2014/main" id="{63284B13-3B5F-4D19-9989-C9E47FCF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剧本、分镜、素材、交付</a:t>
            </a:r>
          </a:p>
        </p:txBody>
      </p:sp>
      <p:sp>
        <p:nvSpPr>
          <p:cNvPr id="69" name="shared-300-status">
            <a:extLst xmlns:a="http://schemas.openxmlformats.org/drawingml/2006/main">
              <a:ext uri="{FF2B5EF4-FFF2-40B4-BE49-F238E27FC236}">
                <a16:creationId xmlns:a16="http://schemas.microsoft.com/office/drawing/2014/main" id="{C46314D0-07EE-4E7A-83EE-FE87053B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52800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7452"/>
                </a:solidFill>
              </a:defRPr>
            </a:pPr>
            <a:r>
              <a:rPr sz="60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70" name="shared-530-box">
            <a:extLst xmlns:a="http://schemas.openxmlformats.org/drawingml/2006/main">
              <a:ext uri="{FF2B5EF4-FFF2-40B4-BE49-F238E27FC236}">
                <a16:creationId xmlns:a16="http://schemas.microsoft.com/office/drawing/2014/main" id="{E3668494-66B5-4619-AD19-59439A9D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19050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71" name="shared-530-stripe">
            <a:extLst xmlns:a="http://schemas.openxmlformats.org/drawingml/2006/main">
              <a:ext uri="{FF2B5EF4-FFF2-40B4-BE49-F238E27FC236}">
                <a16:creationId xmlns:a16="http://schemas.microsoft.com/office/drawing/2014/main" id="{74A01589-0C4C-4C74-AD86-85CF728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72" name="shared-530-title">
            <a:extLst xmlns:a="http://schemas.openxmlformats.org/drawingml/2006/main">
              <a:ext uri="{FF2B5EF4-FFF2-40B4-BE49-F238E27FC236}">
                <a16:creationId xmlns:a16="http://schemas.microsoft.com/office/drawing/2014/main" id="{55722CDC-31D4-4D74-88D3-22AB739C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版本与审批</a:t>
            </a:r>
          </a:p>
        </p:txBody>
      </p:sp>
      <p:sp>
        <p:nvSpPr>
          <p:cNvPr id="73" name="shared-530-body">
            <a:extLst xmlns:a="http://schemas.openxmlformats.org/drawingml/2006/main">
              <a:ext uri="{FF2B5EF4-FFF2-40B4-BE49-F238E27FC236}">
                <a16:creationId xmlns:a16="http://schemas.microsoft.com/office/drawing/2014/main" id="{DC76A794-303E-4EFB-84F4-1401AC0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唯一标识、指纹、幂等提交</a:t>
            </a:r>
          </a:p>
        </p:txBody>
      </p:sp>
      <p:sp>
        <p:nvSpPr>
          <p:cNvPr id="74" name="shared-530-status">
            <a:extLst xmlns:a="http://schemas.openxmlformats.org/drawingml/2006/main">
              <a:ext uri="{FF2B5EF4-FFF2-40B4-BE49-F238E27FC236}">
                <a16:creationId xmlns:a16="http://schemas.microsoft.com/office/drawing/2014/main" id="{8D948FFC-6B69-47CB-A1C8-2E254222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52800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7452"/>
                </a:solidFill>
              </a:defRPr>
            </a:pPr>
            <a:r>
              <a:rPr sz="60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75" name="shared-760-box">
            <a:extLst xmlns:a="http://schemas.openxmlformats.org/drawingml/2006/main">
              <a:ext uri="{FF2B5EF4-FFF2-40B4-BE49-F238E27FC236}">
                <a16:creationId xmlns:a16="http://schemas.microsoft.com/office/drawing/2014/main" id="{DF98A0B1-878E-441A-B3CC-F7897CDA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9050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76" name="shared-760-stripe">
            <a:extLst xmlns:a="http://schemas.openxmlformats.org/drawingml/2006/main">
              <a:ext uri="{FF2B5EF4-FFF2-40B4-BE49-F238E27FC236}">
                <a16:creationId xmlns:a16="http://schemas.microsoft.com/office/drawing/2014/main" id="{7D53A963-545F-4A76-A89B-D5C52A1B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77" name="shared-760-title">
            <a:extLst xmlns:a="http://schemas.openxmlformats.org/drawingml/2006/main">
              <a:ext uri="{FF2B5EF4-FFF2-40B4-BE49-F238E27FC236}">
                <a16:creationId xmlns:a16="http://schemas.microsoft.com/office/drawing/2014/main" id="{FDBB3AD4-586F-4787-AC1D-609E0DC2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528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事件与恢复</a:t>
            </a:r>
          </a:p>
        </p:txBody>
      </p:sp>
      <p:sp>
        <p:nvSpPr>
          <p:cNvPr id="78" name="shared-760-body">
            <a:extLst xmlns:a="http://schemas.openxmlformats.org/drawingml/2006/main">
              <a:ext uri="{FF2B5EF4-FFF2-40B4-BE49-F238E27FC236}">
                <a16:creationId xmlns:a16="http://schemas.microsoft.com/office/drawing/2014/main" id="{A024530F-8408-4DBF-BE12-64FFF56B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623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轨迹、心跳、检查点、重跑</a:t>
            </a:r>
          </a:p>
        </p:txBody>
      </p:sp>
      <p:sp>
        <p:nvSpPr>
          <p:cNvPr id="79" name="shared-760-status">
            <a:extLst xmlns:a="http://schemas.openxmlformats.org/drawingml/2006/main">
              <a:ext uri="{FF2B5EF4-FFF2-40B4-BE49-F238E27FC236}">
                <a16:creationId xmlns:a16="http://schemas.microsoft.com/office/drawing/2014/main" id="{D96E44A9-85F1-42B6-93AE-5754DFCE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52800"/>
            <a:ext cx="5905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7452"/>
                </a:solidFill>
              </a:defRPr>
            </a:pPr>
            <a:r>
              <a:rPr sz="60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80" name="shared-990-box">
            <a:extLst xmlns:a="http://schemas.openxmlformats.org/drawingml/2006/main">
              <a:ext uri="{FF2B5EF4-FFF2-40B4-BE49-F238E27FC236}">
                <a16:creationId xmlns:a16="http://schemas.microsoft.com/office/drawing/2014/main" id="{21FBBBA5-17C5-4DBF-B388-1EAA9F39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1905000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1430">
            <a:solidFill>
              <a:srgbClr val="9A6A12"/>
            </a:solidFill>
            <a:prstDash val="solid"/>
          </a:ln>
        </p:spPr>
      </p:sp>
      <p:sp>
        <p:nvSpPr>
          <p:cNvPr id="81" name="shared-990-stripe">
            <a:extLst xmlns:a="http://schemas.openxmlformats.org/drawingml/2006/main">
              <a:ext uri="{FF2B5EF4-FFF2-40B4-BE49-F238E27FC236}">
                <a16:creationId xmlns:a16="http://schemas.microsoft.com/office/drawing/2014/main" id="{591ECF31-A494-4E60-89FA-4B6EB339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2"/>
          </a:solidFill>
          <a:ln xmlns:a="http://schemas.openxmlformats.org/drawingml/2006/main" w="0">
            <a:solidFill>
              <a:srgbClr val="9A6A12"/>
            </a:solidFill>
            <a:prstDash val="solid"/>
          </a:ln>
        </p:spPr>
      </p:sp>
      <p:sp>
        <p:nvSpPr>
          <p:cNvPr id="82" name="shared-990-title">
            <a:extLst xmlns:a="http://schemas.openxmlformats.org/drawingml/2006/main">
              <a:ext uri="{FF2B5EF4-FFF2-40B4-BE49-F238E27FC236}">
                <a16:creationId xmlns:a16="http://schemas.microsoft.com/office/drawing/2014/main" id="{D6183787-1D34-4E4C-B59A-8877C0A3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交付与线上表现</a:t>
            </a:r>
          </a:p>
        </p:txBody>
      </p:sp>
      <p:sp>
        <p:nvSpPr>
          <p:cNvPr id="83" name="shared-990-body">
            <a:extLst xmlns:a="http://schemas.openxmlformats.org/drawingml/2006/main">
              <a:ext uri="{FF2B5EF4-FFF2-40B4-BE49-F238E27FC236}">
                <a16:creationId xmlns:a16="http://schemas.microsoft.com/office/drawing/2014/main" id="{6561CF70-4625-4C7A-B3A7-A0B8F3AE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交付指针、发布、表现快照</a:t>
            </a:r>
          </a:p>
        </p:txBody>
      </p:sp>
      <p:sp>
        <p:nvSpPr>
          <p:cNvPr id="84" name="shared-990-status">
            <a:extLst xmlns:a="http://schemas.openxmlformats.org/drawingml/2006/main">
              <a:ext uri="{FF2B5EF4-FFF2-40B4-BE49-F238E27FC236}">
                <a16:creationId xmlns:a16="http://schemas.microsoft.com/office/drawing/2014/main" id="{79FDE967-1B5D-492F-8A39-C5D1134B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352800"/>
            <a:ext cx="6477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9A6A12"/>
                </a:solidFill>
              </a:defRPr>
            </a:pPr>
            <a:r>
              <a:rPr sz="600" b="1">
                <a:solidFill>
                  <a:srgbClr val="9A6A12"/>
                </a:solidFill>
              </a:rPr>
              <a:t>部分推进</a:t>
            </a:r>
          </a:p>
        </p:txBody>
      </p:sp>
      <p:sp>
        <p:nvSpPr>
          <p:cNvPr id="85" name="production-70-box">
            <a:extLst xmlns:a="http://schemas.openxmlformats.org/drawingml/2006/main">
              <a:ext uri="{FF2B5EF4-FFF2-40B4-BE49-F238E27FC236}">
                <a16:creationId xmlns:a16="http://schemas.microsoft.com/office/drawing/2014/main" id="{A495500B-9E7C-42F6-AD4E-6CD8AD67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86" name="production-70-stripe">
            <a:extLst xmlns:a="http://schemas.openxmlformats.org/drawingml/2006/main">
              <a:ext uri="{FF2B5EF4-FFF2-40B4-BE49-F238E27FC236}">
                <a16:creationId xmlns:a16="http://schemas.microsoft.com/office/drawing/2014/main" id="{DC24C037-8AC0-42C2-8382-CC65BD13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87" name="production-70-title">
            <a:extLst xmlns:a="http://schemas.openxmlformats.org/drawingml/2006/main">
              <a:ext uri="{FF2B5EF4-FFF2-40B4-BE49-F238E27FC236}">
                <a16:creationId xmlns:a16="http://schemas.microsoft.com/office/drawing/2014/main" id="{8C961533-49FB-43FE-AA43-8051D1C8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产品事实</a:t>
            </a:r>
          </a:p>
        </p:txBody>
      </p:sp>
      <p:sp>
        <p:nvSpPr>
          <p:cNvPr id="88" name="production-70-body">
            <a:extLst xmlns:a="http://schemas.openxmlformats.org/drawingml/2006/main">
              <a:ext uri="{FF2B5EF4-FFF2-40B4-BE49-F238E27FC236}">
                <a16:creationId xmlns:a16="http://schemas.microsoft.com/office/drawing/2014/main" id="{02EADCC0-B153-4F3D-8B0A-59473044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商品与视觉身份</a:t>
            </a:r>
          </a:p>
        </p:txBody>
      </p:sp>
      <p:sp>
        <p:nvSpPr>
          <p:cNvPr id="89" name="production-70-status">
            <a:extLst xmlns:a="http://schemas.openxmlformats.org/drawingml/2006/main">
              <a:ext uri="{FF2B5EF4-FFF2-40B4-BE49-F238E27FC236}">
                <a16:creationId xmlns:a16="http://schemas.microsoft.com/office/drawing/2014/main" id="{4C25242B-D0DB-4801-B0C5-A966F4A6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7452"/>
                </a:solidFill>
              </a:defRPr>
            </a:pPr>
            <a:r>
              <a:rPr sz="75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90" name="production-210-box">
            <a:extLst xmlns:a="http://schemas.openxmlformats.org/drawingml/2006/main">
              <a:ext uri="{FF2B5EF4-FFF2-40B4-BE49-F238E27FC236}">
                <a16:creationId xmlns:a16="http://schemas.microsoft.com/office/drawing/2014/main" id="{2F528739-3798-42BD-81B3-059B94F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91" name="production-210-stripe">
            <a:extLst xmlns:a="http://schemas.openxmlformats.org/drawingml/2006/main">
              <a:ext uri="{FF2B5EF4-FFF2-40B4-BE49-F238E27FC236}">
                <a16:creationId xmlns:a16="http://schemas.microsoft.com/office/drawing/2014/main" id="{9D527D6B-3B2C-4CC6-A8EA-B27849DB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92" name="production-210-title">
            <a:extLst xmlns:a="http://schemas.openxmlformats.org/drawingml/2006/main">
              <a:ext uri="{FF2B5EF4-FFF2-40B4-BE49-F238E27FC236}">
                <a16:creationId xmlns:a16="http://schemas.microsoft.com/office/drawing/2014/main" id="{82EC911E-E81A-499E-B07F-31BC6F78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剧本与分镜</a:t>
            </a:r>
          </a:p>
        </p:txBody>
      </p:sp>
      <p:sp>
        <p:nvSpPr>
          <p:cNvPr id="93" name="production-210-body">
            <a:extLst xmlns:a="http://schemas.openxmlformats.org/drawingml/2006/main">
              <a:ext uri="{FF2B5EF4-FFF2-40B4-BE49-F238E27FC236}">
                <a16:creationId xmlns:a16="http://schemas.microsoft.com/office/drawing/2014/main" id="{4FDB1135-140F-40D4-AACD-11BFDC30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口播、花字、时间轴</a:t>
            </a:r>
          </a:p>
        </p:txBody>
      </p:sp>
      <p:sp>
        <p:nvSpPr>
          <p:cNvPr id="94" name="production-210-status">
            <a:extLst xmlns:a="http://schemas.openxmlformats.org/drawingml/2006/main">
              <a:ext uri="{FF2B5EF4-FFF2-40B4-BE49-F238E27FC236}">
                <a16:creationId xmlns:a16="http://schemas.microsoft.com/office/drawing/2014/main" id="{9EDD6DD0-3153-43AB-8518-1DCD201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7452"/>
                </a:solidFill>
              </a:defRPr>
            </a:pPr>
            <a:r>
              <a:rPr sz="75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95" name="production-350-box">
            <a:extLst xmlns:a="http://schemas.openxmlformats.org/drawingml/2006/main">
              <a:ext uri="{FF2B5EF4-FFF2-40B4-BE49-F238E27FC236}">
                <a16:creationId xmlns:a16="http://schemas.microsoft.com/office/drawing/2014/main" id="{A41ADD5E-F286-4BE1-AE64-9123E8B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96" name="production-350-stripe">
            <a:extLst xmlns:a="http://schemas.openxmlformats.org/drawingml/2006/main">
              <a:ext uri="{FF2B5EF4-FFF2-40B4-BE49-F238E27FC236}">
                <a16:creationId xmlns:a16="http://schemas.microsoft.com/office/drawing/2014/main" id="{DF3D3ACC-0B8B-480B-AEAD-A3965F7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97" name="production-350-title">
            <a:extLst xmlns:a="http://schemas.openxmlformats.org/drawingml/2006/main">
              <a:ext uri="{FF2B5EF4-FFF2-40B4-BE49-F238E27FC236}">
                <a16:creationId xmlns:a16="http://schemas.microsoft.com/office/drawing/2014/main" id="{66AD6491-6A42-48C6-8AE5-B1DA24FF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素材检索</a:t>
            </a:r>
          </a:p>
        </p:txBody>
      </p:sp>
      <p:sp>
        <p:nvSpPr>
          <p:cNvPr id="98" name="production-350-body">
            <a:extLst xmlns:a="http://schemas.openxmlformats.org/drawingml/2006/main">
              <a:ext uri="{FF2B5EF4-FFF2-40B4-BE49-F238E27FC236}">
                <a16:creationId xmlns:a16="http://schemas.microsoft.com/office/drawing/2014/main" id="{41253306-354A-441A-9A81-5C080827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按动作匹配自有素材</a:t>
            </a:r>
          </a:p>
        </p:txBody>
      </p:sp>
      <p:sp>
        <p:nvSpPr>
          <p:cNvPr id="99" name="production-350-status">
            <a:extLst xmlns:a="http://schemas.openxmlformats.org/drawingml/2006/main">
              <a:ext uri="{FF2B5EF4-FFF2-40B4-BE49-F238E27FC236}">
                <a16:creationId xmlns:a16="http://schemas.microsoft.com/office/drawing/2014/main" id="{2D6E3C70-3EC4-46C4-BECB-29499C4D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7452"/>
                </a:solidFill>
              </a:defRPr>
            </a:pPr>
            <a:r>
              <a:rPr sz="75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100" name="production-490-box">
            <a:extLst xmlns:a="http://schemas.openxmlformats.org/drawingml/2006/main">
              <a:ext uri="{FF2B5EF4-FFF2-40B4-BE49-F238E27FC236}">
                <a16:creationId xmlns:a16="http://schemas.microsoft.com/office/drawing/2014/main" id="{D15824E9-14DD-48D5-97B2-9E632C6B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101" name="production-490-stripe">
            <a:extLst xmlns:a="http://schemas.openxmlformats.org/drawingml/2006/main">
              <a:ext uri="{FF2B5EF4-FFF2-40B4-BE49-F238E27FC236}">
                <a16:creationId xmlns:a16="http://schemas.microsoft.com/office/drawing/2014/main" id="{C827AABD-9806-48ED-AB63-B49FB223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102" name="production-490-title">
            <a:extLst xmlns:a="http://schemas.openxmlformats.org/drawingml/2006/main">
              <a:ext uri="{FF2B5EF4-FFF2-40B4-BE49-F238E27FC236}">
                <a16:creationId xmlns:a16="http://schemas.microsoft.com/office/drawing/2014/main" id="{5CC07CBA-561B-44A9-A21C-29C89AF1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口播与音乐</a:t>
            </a:r>
          </a:p>
        </p:txBody>
      </p:sp>
      <p:sp>
        <p:nvSpPr>
          <p:cNvPr id="103" name="production-490-body">
            <a:extLst xmlns:a="http://schemas.openxmlformats.org/drawingml/2006/main">
              <a:ext uri="{FF2B5EF4-FFF2-40B4-BE49-F238E27FC236}">
                <a16:creationId xmlns:a16="http://schemas.microsoft.com/office/drawing/2014/main" id="{15CEBEE4-D804-4DF4-96AF-54F32F18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时长、节奏、背景音乐</a:t>
            </a:r>
          </a:p>
        </p:txBody>
      </p:sp>
      <p:sp>
        <p:nvSpPr>
          <p:cNvPr id="104" name="production-490-status">
            <a:extLst xmlns:a="http://schemas.openxmlformats.org/drawingml/2006/main">
              <a:ext uri="{FF2B5EF4-FFF2-40B4-BE49-F238E27FC236}">
                <a16:creationId xmlns:a16="http://schemas.microsoft.com/office/drawing/2014/main" id="{F4CD9D96-1497-49FF-A3AA-67240594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7452"/>
                </a:solidFill>
              </a:defRPr>
            </a:pPr>
            <a:r>
              <a:rPr sz="75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105" name="production-630-box">
            <a:extLst xmlns:a="http://schemas.openxmlformats.org/drawingml/2006/main">
              <a:ext uri="{FF2B5EF4-FFF2-40B4-BE49-F238E27FC236}">
                <a16:creationId xmlns:a16="http://schemas.microsoft.com/office/drawing/2014/main" id="{BE1016D3-D589-4D4F-AA07-C5C0CEA4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1430">
            <a:solidFill>
              <a:srgbClr val="9A6A12"/>
            </a:solidFill>
            <a:prstDash val="solid"/>
          </a:ln>
        </p:spPr>
      </p:sp>
      <p:sp>
        <p:nvSpPr>
          <p:cNvPr id="106" name="production-630-stripe">
            <a:extLst xmlns:a="http://schemas.openxmlformats.org/drawingml/2006/main">
              <a:ext uri="{FF2B5EF4-FFF2-40B4-BE49-F238E27FC236}">
                <a16:creationId xmlns:a16="http://schemas.microsoft.com/office/drawing/2014/main" id="{1EE7193D-5565-4F53-A0DB-E0E341AA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2"/>
          </a:solidFill>
          <a:ln xmlns:a="http://schemas.openxmlformats.org/drawingml/2006/main" w="0">
            <a:solidFill>
              <a:srgbClr val="9A6A12"/>
            </a:solidFill>
            <a:prstDash val="solid"/>
          </a:ln>
        </p:spPr>
      </p:sp>
      <p:sp>
        <p:nvSpPr>
          <p:cNvPr id="107" name="production-630-title">
            <a:extLst xmlns:a="http://schemas.openxmlformats.org/drawingml/2006/main">
              <a:ext uri="{FF2B5EF4-FFF2-40B4-BE49-F238E27FC236}">
                <a16:creationId xmlns:a16="http://schemas.microsoft.com/office/drawing/2014/main" id="{B2D52AFA-0AA8-47BD-AF42-38B16E74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角色/场景连续</a:t>
            </a:r>
          </a:p>
        </p:txBody>
      </p:sp>
      <p:sp>
        <p:nvSpPr>
          <p:cNvPr id="108" name="production-630-body">
            <a:extLst xmlns:a="http://schemas.openxmlformats.org/drawingml/2006/main">
              <a:ext uri="{FF2B5EF4-FFF2-40B4-BE49-F238E27FC236}">
                <a16:creationId xmlns:a16="http://schemas.microsoft.com/office/drawing/2014/main" id="{407F0D5D-394D-4C85-B58E-3701CE10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角色、光线、动作关系</a:t>
            </a:r>
          </a:p>
        </p:txBody>
      </p:sp>
      <p:sp>
        <p:nvSpPr>
          <p:cNvPr id="109" name="production-630-status">
            <a:extLst xmlns:a="http://schemas.openxmlformats.org/drawingml/2006/main">
              <a:ext uri="{FF2B5EF4-FFF2-40B4-BE49-F238E27FC236}">
                <a16:creationId xmlns:a16="http://schemas.microsoft.com/office/drawing/2014/main" id="{F0B47806-270C-4301-8EE8-D05ED801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A6A12"/>
                </a:solidFill>
              </a:defRPr>
            </a:pPr>
            <a:r>
              <a:rPr sz="750" b="1">
                <a:solidFill>
                  <a:srgbClr val="9A6A12"/>
                </a:solidFill>
              </a:rPr>
              <a:t>推进中</a:t>
            </a:r>
          </a:p>
        </p:txBody>
      </p:sp>
      <p:sp>
        <p:nvSpPr>
          <p:cNvPr id="110" name="production-770-box">
            <a:extLst xmlns:a="http://schemas.openxmlformats.org/drawingml/2006/main">
              <a:ext uri="{FF2B5EF4-FFF2-40B4-BE49-F238E27FC236}">
                <a16:creationId xmlns:a16="http://schemas.microsoft.com/office/drawing/2014/main" id="{2F6651CE-4917-46FD-BB2F-C361F4D8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1430">
            <a:solidFill>
              <a:srgbClr val="9A6A12"/>
            </a:solidFill>
            <a:prstDash val="solid"/>
          </a:ln>
        </p:spPr>
      </p:sp>
      <p:sp>
        <p:nvSpPr>
          <p:cNvPr id="111" name="production-770-stripe">
            <a:extLst xmlns:a="http://schemas.openxmlformats.org/drawingml/2006/main">
              <a:ext uri="{FF2B5EF4-FFF2-40B4-BE49-F238E27FC236}">
                <a16:creationId xmlns:a16="http://schemas.microsoft.com/office/drawing/2014/main" id="{CB487F1B-0DF8-4E79-9D7D-96845099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2"/>
          </a:solidFill>
          <a:ln xmlns:a="http://schemas.openxmlformats.org/drawingml/2006/main" w="0">
            <a:solidFill>
              <a:srgbClr val="9A6A12"/>
            </a:solidFill>
            <a:prstDash val="solid"/>
          </a:ln>
        </p:spPr>
      </p:sp>
      <p:sp>
        <p:nvSpPr>
          <p:cNvPr id="112" name="production-770-title">
            <a:extLst xmlns:a="http://schemas.openxmlformats.org/drawingml/2006/main">
              <a:ext uri="{FF2B5EF4-FFF2-40B4-BE49-F238E27FC236}">
                <a16:creationId xmlns:a16="http://schemas.microsoft.com/office/drawing/2014/main" id="{6770E453-5F6F-445C-A67B-0EEF7094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局部生成补位</a:t>
            </a:r>
          </a:p>
        </p:txBody>
      </p:sp>
      <p:sp>
        <p:nvSpPr>
          <p:cNvPr id="113" name="production-770-body">
            <a:extLst xmlns:a="http://schemas.openxmlformats.org/drawingml/2006/main">
              <a:ext uri="{FF2B5EF4-FFF2-40B4-BE49-F238E27FC236}">
                <a16:creationId xmlns:a16="http://schemas.microsoft.com/office/drawing/2014/main" id="{6E82366B-9E4E-40C5-9993-CA58DE6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只补素材缺口</a:t>
            </a:r>
          </a:p>
        </p:txBody>
      </p:sp>
      <p:sp>
        <p:nvSpPr>
          <p:cNvPr id="114" name="production-770-status">
            <a:extLst xmlns:a="http://schemas.openxmlformats.org/drawingml/2006/main">
              <a:ext uri="{FF2B5EF4-FFF2-40B4-BE49-F238E27FC236}">
                <a16:creationId xmlns:a16="http://schemas.microsoft.com/office/drawing/2014/main" id="{8189919A-ACAC-43F3-97CE-C318367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A6A12"/>
                </a:solidFill>
              </a:defRPr>
            </a:pPr>
            <a:r>
              <a:rPr sz="750" b="1">
                <a:solidFill>
                  <a:srgbClr val="9A6A12"/>
                </a:solidFill>
              </a:rPr>
              <a:t>推进中</a:t>
            </a:r>
          </a:p>
        </p:txBody>
      </p:sp>
      <p:sp>
        <p:nvSpPr>
          <p:cNvPr id="115" name="production-910-box">
            <a:extLst xmlns:a="http://schemas.openxmlformats.org/drawingml/2006/main">
              <a:ext uri="{FF2B5EF4-FFF2-40B4-BE49-F238E27FC236}">
                <a16:creationId xmlns:a16="http://schemas.microsoft.com/office/drawing/2014/main" id="{1722B0E6-A598-4748-8500-42016384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E8F3EB"/>
          </a:solidFill>
          <a:ln xmlns:a="http://schemas.openxmlformats.org/drawingml/2006/main" w="11430">
            <a:solidFill>
              <a:srgbClr val="277452"/>
            </a:solidFill>
            <a:prstDash val="solid"/>
          </a:ln>
        </p:spPr>
      </p:sp>
      <p:sp>
        <p:nvSpPr>
          <p:cNvPr id="116" name="production-910-stripe">
            <a:extLst xmlns:a="http://schemas.openxmlformats.org/drawingml/2006/main">
              <a:ext uri="{FF2B5EF4-FFF2-40B4-BE49-F238E27FC236}">
                <a16:creationId xmlns:a16="http://schemas.microsoft.com/office/drawing/2014/main" id="{4A868048-5D47-41E1-B8E4-2A0DA759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2"/>
          </a:solidFill>
          <a:ln xmlns:a="http://schemas.openxmlformats.org/drawingml/2006/main" w="0">
            <a:solidFill>
              <a:srgbClr val="277452"/>
            </a:solidFill>
            <a:prstDash val="solid"/>
          </a:ln>
        </p:spPr>
      </p:sp>
      <p:sp>
        <p:nvSpPr>
          <p:cNvPr id="117" name="production-910-title">
            <a:extLst xmlns:a="http://schemas.openxmlformats.org/drawingml/2006/main">
              <a:ext uri="{FF2B5EF4-FFF2-40B4-BE49-F238E27FC236}">
                <a16:creationId xmlns:a16="http://schemas.microsoft.com/office/drawing/2014/main" id="{E43FD61D-EF03-44F2-99EB-8E944634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混剪与质检</a:t>
            </a:r>
          </a:p>
        </p:txBody>
      </p:sp>
      <p:sp>
        <p:nvSpPr>
          <p:cNvPr id="118" name="production-910-body">
            <a:extLst xmlns:a="http://schemas.openxmlformats.org/drawingml/2006/main">
              <a:ext uri="{FF2B5EF4-FFF2-40B4-BE49-F238E27FC236}">
                <a16:creationId xmlns:a16="http://schemas.microsoft.com/office/drawing/2014/main" id="{B429A147-C2D1-40FF-9F72-23D48EE9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合成、质量门、证书</a:t>
            </a:r>
          </a:p>
        </p:txBody>
      </p:sp>
      <p:sp>
        <p:nvSpPr>
          <p:cNvPr id="119" name="production-910-status">
            <a:extLst xmlns:a="http://schemas.openxmlformats.org/drawingml/2006/main">
              <a:ext uri="{FF2B5EF4-FFF2-40B4-BE49-F238E27FC236}">
                <a16:creationId xmlns:a16="http://schemas.microsoft.com/office/drawing/2014/main" id="{03257881-4DAA-4D85-B72C-E6FBD3AB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74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7452"/>
                </a:solidFill>
              </a:defRPr>
            </a:pPr>
            <a:r>
              <a:rPr sz="750" b="1">
                <a:solidFill>
                  <a:srgbClr val="277452"/>
                </a:solidFill>
              </a:rPr>
              <a:t>已实现</a:t>
            </a:r>
          </a:p>
        </p:txBody>
      </p:sp>
      <p:sp>
        <p:nvSpPr>
          <p:cNvPr id="120" name="production-1050-box">
            <a:extLst xmlns:a="http://schemas.openxmlformats.org/drawingml/2006/main">
              <a:ext uri="{FF2B5EF4-FFF2-40B4-BE49-F238E27FC236}">
                <a16:creationId xmlns:a16="http://schemas.microsoft.com/office/drawing/2014/main" id="{5582CB0A-BC4B-42F1-9ECE-C40485D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43450"/>
            <a:ext cx="11906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1430">
            <a:solidFill>
              <a:srgbClr val="9A6A12"/>
            </a:solidFill>
            <a:prstDash val="solid"/>
          </a:ln>
        </p:spPr>
      </p:sp>
      <p:sp>
        <p:nvSpPr>
          <p:cNvPr id="121" name="production-1050-stripe">
            <a:extLst xmlns:a="http://schemas.openxmlformats.org/drawingml/2006/main">
              <a:ext uri="{FF2B5EF4-FFF2-40B4-BE49-F238E27FC236}">
                <a16:creationId xmlns:a16="http://schemas.microsoft.com/office/drawing/2014/main" id="{086508BB-DE5F-4A4A-895C-9F507D2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434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12"/>
          </a:solidFill>
          <a:ln xmlns:a="http://schemas.openxmlformats.org/drawingml/2006/main" w="0">
            <a:solidFill>
              <a:srgbClr val="9A6A12"/>
            </a:solidFill>
            <a:prstDash val="solid"/>
          </a:ln>
        </p:spPr>
      </p:sp>
      <p:sp>
        <p:nvSpPr>
          <p:cNvPr id="122" name="production-1050-title">
            <a:extLst xmlns:a="http://schemas.openxmlformats.org/drawingml/2006/main">
              <a:ext uri="{FF2B5EF4-FFF2-40B4-BE49-F238E27FC236}">
                <a16:creationId xmlns:a16="http://schemas.microsoft.com/office/drawing/2014/main" id="{43B0119B-2AEF-42B5-B873-2A83A8F2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3870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0272A"/>
                </a:solidFill>
              </a:defRPr>
            </a:pPr>
            <a:r>
              <a:rPr sz="825" b="1">
                <a:solidFill>
                  <a:srgbClr val="20272A"/>
                </a:solidFill>
              </a:rPr>
              <a:t>投放版本</a:t>
            </a:r>
          </a:p>
        </p:txBody>
      </p:sp>
      <p:sp>
        <p:nvSpPr>
          <p:cNvPr id="123" name="production-1050-body">
            <a:extLst xmlns:a="http://schemas.openxmlformats.org/drawingml/2006/main">
              <a:ext uri="{FF2B5EF4-FFF2-40B4-BE49-F238E27FC236}">
                <a16:creationId xmlns:a16="http://schemas.microsoft.com/office/drawing/2014/main" id="{E6E52C95-C0AB-4011-9E03-B02ED36A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95875"/>
            <a:ext cx="962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376"/>
                </a:solidFill>
              </a:defRPr>
            </a:pPr>
            <a:r>
              <a:rPr sz="675" b="0">
                <a:solidFill>
                  <a:srgbClr val="667376"/>
                </a:solidFill>
              </a:rPr>
              <a:t>产物与质量证据绑定</a:t>
            </a:r>
          </a:p>
        </p:txBody>
      </p:sp>
      <p:sp>
        <p:nvSpPr>
          <p:cNvPr id="124" name="production-1050-status">
            <a:extLst xmlns:a="http://schemas.openxmlformats.org/drawingml/2006/main">
              <a:ext uri="{FF2B5EF4-FFF2-40B4-BE49-F238E27FC236}">
                <a16:creationId xmlns:a16="http://schemas.microsoft.com/office/drawing/2014/main" id="{6BD58DB5-C7AA-4976-9D6B-A226345F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24475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A1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A6A12"/>
                </a:solidFill>
              </a:defRPr>
            </a:pPr>
            <a:r>
              <a:rPr sz="750" b="1">
                <a:solidFill>
                  <a:srgbClr val="9A6A12"/>
                </a:solidFill>
              </a:rPr>
              <a:t>推进中</a:t>
            </a:r>
          </a:p>
        </p:txBody>
      </p:sp>
      <p:sp>
        <p:nvSpPr>
          <p:cNvPr id="125" name="gate-frame">
            <a:extLst xmlns:a="http://schemas.openxmlformats.org/drawingml/2006/main">
              <a:ext uri="{FF2B5EF4-FFF2-40B4-BE49-F238E27FC236}">
                <a16:creationId xmlns:a16="http://schemas.microsoft.com/office/drawing/2014/main" id="{5475B91A-07C1-45CB-A9BF-B562A716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31557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7F1F4"/>
          </a:solidFill>
          <a:ln xmlns:a="http://schemas.openxmlformats.org/drawingml/2006/main" w="9525">
            <a:solidFill>
              <a:srgbClr val="286B83"/>
            </a:solidFill>
            <a:prstDash val="solid"/>
          </a:ln>
        </p:spPr>
      </p:sp>
      <p:sp>
        <p:nvSpPr>
          <p:cNvPr id="126" name="gate-title">
            <a:extLst xmlns:a="http://schemas.openxmlformats.org/drawingml/2006/main">
              <a:ext uri="{FF2B5EF4-FFF2-40B4-BE49-F238E27FC236}">
                <a16:creationId xmlns:a16="http://schemas.microsoft.com/office/drawing/2014/main" id="{67F19EB8-B55B-4BDC-8A28-C291B293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76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6B83"/>
                </a:solidFill>
              </a:defRPr>
            </a:pPr>
            <a:r>
              <a:rPr sz="975" b="1">
                <a:solidFill>
                  <a:srgbClr val="286B83"/>
                </a:solidFill>
              </a:rPr>
              <a:t>最小生成闸门</a:t>
            </a:r>
          </a:p>
        </p:txBody>
      </p:sp>
      <p:sp>
        <p:nvSpPr>
          <p:cNvPr id="127" name="gate-copy">
            <a:extLst xmlns:a="http://schemas.openxmlformats.org/drawingml/2006/main">
              <a:ext uri="{FF2B5EF4-FFF2-40B4-BE49-F238E27FC236}">
                <a16:creationId xmlns:a16="http://schemas.microsoft.com/office/drawing/2014/main" id="{68F64170-B1A2-4416-8FEC-CC7F3EA3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767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76"/>
                </a:solidFill>
              </a:defRPr>
            </a:pPr>
            <a:r>
              <a:rPr sz="975" b="0">
                <a:solidFill>
                  <a:srgbClr val="667376"/>
                </a:solidFill>
              </a:rPr>
              <a:t>命中可用素材就复用；找不到证据时，只补生成缺口，不整条重做。</a:t>
            </a:r>
          </a:p>
        </p:txBody>
      </p:sp>
      <p:sp>
        <p:nvSpPr>
          <p:cNvPr id="128" name="takeaway-frame">
            <a:extLst xmlns:a="http://schemas.openxmlformats.org/drawingml/2006/main">
              <a:ext uri="{FF2B5EF4-FFF2-40B4-BE49-F238E27FC236}">
                <a16:creationId xmlns:a16="http://schemas.microsoft.com/office/drawing/2014/main" id="{5BFF2D7D-6268-4180-AB6A-3896E02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38825"/>
            <a:ext cx="11353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0272A"/>
          </a:solidFill>
          <a:ln xmlns:a="http://schemas.openxmlformats.org/drawingml/2006/main" w="0">
            <a:solidFill>
              <a:srgbClr val="20272A"/>
            </a:solidFill>
            <a:prstDash val="solid"/>
          </a:ln>
        </p:spPr>
      </p:sp>
      <p:sp>
        <p:nvSpPr>
          <p:cNvPr id="129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80E064DF-7229-4EF5-87E4-30199668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D4C0"/>
                </a:solidFill>
              </a:defRPr>
            </a:pPr>
            <a:r>
              <a:rPr sz="1425" b="1">
                <a:solidFill>
                  <a:srgbClr val="A7D4C0"/>
                </a:solidFill>
              </a:rPr>
              <a:t>九月判断</a:t>
            </a:r>
          </a:p>
        </p:txBody>
      </p:sp>
      <p:sp>
        <p:nvSpPr>
          <p:cNvPr id="130" name="takeaway">
            <a:extLst xmlns:a="http://schemas.openxmlformats.org/drawingml/2006/main">
              <a:ext uri="{FF2B5EF4-FFF2-40B4-BE49-F238E27FC236}">
                <a16:creationId xmlns:a16="http://schemas.microsoft.com/office/drawing/2014/main" id="{118681DE-470F-4A88-AC71-E0A2924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62650"/>
            <a:ext cx="957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单条生产的事实、产物、审批、恢复与质量链已经成立；下一步是补齐批量执行、账号连接和线上反馈，让内容真正进入增长飞轮。</a:t>
            </a:r>
          </a:p>
        </p:txBody>
      </p:sp>
    </p:spTree>
    <p:extLst>
      <p:ext uri="{BB962C8B-B14F-4D97-AF65-F5344CB8AC3E}">
        <p14:creationId xmlns:p14="http://schemas.microsoft.com/office/powerpoint/2010/main" val="577972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2026-08-31T03:04:24.6260000Z</dcterms:created>
  <dcterms:modified xsi:type="dcterms:W3CDTF">2026-08-31T03:04:24.6260000Z</dcterms:modified>
</coreProperties>
</file>